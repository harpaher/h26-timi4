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8" r:id="rId35"/>
    <p:sldId id="289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0" d="100"/>
          <a:sy n="30" d="100"/>
        </p:scale>
        <p:origin x="3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55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Velkomin. Í dag lærum við tvennt sem allt annað í CSS byggir á: hvernig við VELJUM element (selectors) og hvernig hvert element TEKUR PLÁSS á síðunni (box-model). Myndin uppi til hægri er box-model – við komum að henni eftir hlé.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Fjögur markmið. Í lok tímans á hvert ykkar að geta gert þetta sjálft – tímaverkefnið prófar öll fjögur.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Stutt upprifjun. Í dag snýst allt um vinstri hlutann – SELECTORINN. Hann segir vafranum hvaða element reglan á við. Minnið á semíkommuna og slaufusvigana – algengustu villurnar.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 öllum æfingum í dag notum við ytri skrá, style.css, tengda með link í head. Það heldur HTML og CSS aðskildu og einn stílsnið getur stílað margar síður.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Element-selector er bara nafnið á taginu, án oddklofa. Hann velur ÖLL element af þeirri gerð á síðunni. Gott fyrir grunnstíla: body, h1, p,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Klasar eru vinnuhestarnir í CSS. Mikilvægt: punkturinn er bara í CSS. Í HTML skrifum við class="verd" án punkts. Takið eftir að 450 kr. hefur báða klasana og fær því bæði feitletrun og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Myllumerki = id. Id er einstakt – eins og kennitala. Það er löglegt að stíla með id, en það gerir CSS-ið erfitt að viðhalda því id vinnur nánast allt. Þess vegna: class fyrir útlit.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Stjarnan velur allt. Við notum hana eftir hlé fyrir box-sizing. Hópun er ekki ný tegund af selector heldur leið til að skrifa sömu reglu fyrir marga selectors í einu. Passið að ruglast ekki á kommu (hópun) og bili (afkomendur – kemur næst!).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Dálkurinn Styrkur er specificity – við komum að honum eftir smástund. Í bili: id er sterkast, svo class, svo element. Nú prófum við þetta saman í æfingu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Ég deili skjá og skrifa, þið skrifið með. Skref 7 er undirbúningur fyrir cascade: .inngangur og .smatt hafa sama styrk, svo sá sem kemur síðar í skránni vinnur. Látið þau giska áður en þið prófið. Lausn í lausn/style.css.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Áður en við lærum stigveldis-selectors þurfum við orðaforðann. HTML myndar tré (DOM). Foreldri = elementið sem er beint utan um. Barn = beint inni í. Systkini = sama foreldri. Afkomandi = hvar sem er fyrir neðan, sama hversu djúpt. Teiknið jafnvel tré úr æfingu 2 á töfluna.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Bilið er líklega mikilvægasti selector-inn í CSS. nav a = allir tenglar inni í nav, sama hversu djúpt. nav &gt; a = aðeins tenglar sem eru beint undir nav. Forsíða-tengillinn er barn li, ekki nav. Þetta er einmitt skref 1 og 2 í æfingu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Plús = næsta systkini strax á eftir. Tilda = öll systkini á eftir, líka þótt eitthvað annað sé á milli. Algeng notkun: h2 + p fyrir 'ingress', fyrstu málsgrein eftir fyrirsögn. Þetta er krafa í tímaverkefninu.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Pseudo-class byrjar á tvípunkti og lýsir ástandi (hover, focus) eða staðsetningu (first-child, nth-child). Athugið: li:first-child þýðir 'li sem er fyrsta barn foreldris síns', ekki 'fyrsta barn li'. Það ruglar marga.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Attribute-selectors eru sérstaklega gagnlegir í formum – type=email, type=text o.s.frv. hafa allir sama tag, input, svo við greinum þá að með eigindinni. ^= byrjar á, $= endar á. Fyrsta línan er krafa í tímaverkefninu.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Cascade = fossinn. Þegar tvær reglur vilja breyta sama eiginleika á sama element þarf vafrinn að velja. Röðin skiptir bara máli þegar specificity er jöfn. Það sáum við í æfingu 1 með .inngangur og .smatt.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Teljið id, svo klasa/pseudo-classes/attribute, svo element. Berið saman frá vinstri – eins og ártal eða útgáfunúmer. Eitt id vinnur sama hversu marga klasa hinn hefur. * og samsetningartáknin (bil, &gt;, +, ~) gefa 0 stig. Inline style slær allt, og !important slær inline – forðist bæði.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Látið nemendur reikna fyrst og kjósa með höndum. Svarið birtist við smell. p=0-0-1, .gata=0-1-0, footer p=0-0-2, p.gata=0-1-1, #gata=1-0-0. Röðin í skránni skiptir engu hér. Við prófum þetta í lok æfingar 2 með því að setja reglurnar eina og eina í athugasemd.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Texta-eiginleikar erfast frá foreldri til barna; kassa-eiginleikar ekki. Ímyndið ykkur ef border erfðist – hvert einasta element inni í div fengi ramma! Erfður gildi tapar alltaf fyrir reglu sem velur elementið beint, óháð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Gerum skrefin saman. Í skrefi 2 og 3 – spyrjið alltaf 'hvers vegna breyttist bara þessi?'. Endið á gátunni: setjið #gata í athugasemd, svo p.gata, svo .gata og spáið í hvert skipti. Lausn í lausn/style.css.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Hlé. Skrifið tímann sem við byrjum aftur á töfluna. Þeir sem eru eftir á í æfingu 2 geta nýtt fyrstu mínúturnar – lausnin er í lausn-möppunni.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Hvert einasta element á síðunni er rétthyrndur kassi með fjögur lög, innan frá: content, padding, border, margin. Mikilvægast að muna: padding er INNI (fær bakgrunn), margin er ÚTI (gegnsætt). Sýnið þetta strax í DevTools á einhverri vefsíðu.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Fjögur gildi fara réttsælis frá klukkan 12. Minnisregla á ensku: TRouBLe (Top Right Bottom Left). Sama gildir um margin. Einnig er hægt að skrifa padding-top, margin-left o.s.frv. hvert fyrir sig.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Þetta kemur flestum á óvart: width er AÐEINS breidd content-svæðisins (sjálfgefið). Padding og border bætast við báðum megin. Látið nemendur reikna sjálf áður en þið sýnið svarið. Margin er ekki hluti af kassanum sjálfum en tekur pláss.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Sama .kort og á síðustu glæru. Með border-box fara padding og border INN í 300px og content-svæðið minnkar í 250px. Næstum allir fagmenn byrja CSS-skrár á þessu. Þetta er krafa nr. 11 í tímaverkefninu og 'aha!'-augnablikið í æfingu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Block-element taka alla breiddina og byrja í nýrri línu. Inline flæða með textanum – padding sést en ýtir ekki öðru frá, og width virkar ekki. inline-block er það besta úr báðum: í línu, en virðir box-model. Þetta sjáum við með .takki í æfingu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Tvö atriði sem allir lenda í. margin: 0 auto miðjar block-element lárétt, en bara ef það hefur breidd (width eða max-width). Margin collapse: lóðrétt margin á milli tveggja block-elementa sameinast. Gerist ekki lárétt og ekki með padding.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Sýnið þetta lifandi. Box-model myndin í Computed er nákvæmlega sama mynd og við teiknuðum. Í Styles sést hvaða reglur gilda og hverjar eru yfirstrikaðar – það er cascade og specificity í verki. Þetta er besta tólið til að finna villur.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Lykilskrefið er 4: kortin eru 300px en taka 368px pláss hvert (300+48 padding+4 border+16 margin). 3×368 = 1104 &gt; 980, svo þriðja fer niður. Leyfið þeim að undrast, reiknið saman, og lagið svo með box-sizing í skrefi 5. Lausn í lausn/style.css.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 vinnið þið sjálf, ein eða tvö saman. Allar kröfur eru í VERKEFNALYSING.md. Þið megið ekki breyta HTML – það neyðir ykkur til að nota selectors almennilega. Ég geng á milli. Skil: [skilastaður].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Hraðupprifjun – bendið á hvern lið og látið bekkinn segja hvað hann gerir. Specificity í einni setningu: id slær class, class slær element, og ef jafnt vinnur síðasta reglan.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Spurningar. Minnið á skil tímaverkefnis og hvað kemur næst (t.d. Flexbox – sem leysir inline-block vandann sem við sáum í dag).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0725" y="619125"/>
            <a:ext cx="3028950" cy="3028950"/>
          </a:xfrm>
          <a:prstGeom prst="roundRect">
            <a:avLst>
              <a:gd name="adj" fmla="val 1363"/>
            </a:avLst>
          </a:prstGeom>
          <a:noFill/>
          <a:ln w="19050">
            <a:solidFill>
              <a:srgbClr val="F2A65A"/>
            </a:solidFill>
            <a:prstDash val="dash"/>
          </a:ln>
        </p:spPr>
        <p:txBody>
          <a:bodyPr/>
          <a:lstStyle/>
          <a:p>
            <a:endParaRPr lang="en-IS"/>
          </a:p>
        </p:txBody>
      </p:sp>
      <p:sp>
        <p:nvSpPr>
          <p:cNvPr id="3" name="Shape 1"/>
          <p:cNvSpPr/>
          <p:nvPr/>
        </p:nvSpPr>
        <p:spPr>
          <a:xfrm>
            <a:off x="8680450" y="958850"/>
            <a:ext cx="2349500" cy="2349500"/>
          </a:xfrm>
          <a:prstGeom prst="rect">
            <a:avLst/>
          </a:prstGeom>
          <a:solidFill>
            <a:srgbClr val="3A4170"/>
          </a:solidFill>
          <a:ln w="88900">
            <a:solidFill>
              <a:srgbClr val="F7F5EF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4" name="Text 2"/>
          <p:cNvSpPr/>
          <p:nvPr/>
        </p:nvSpPr>
        <p:spPr>
          <a:xfrm>
            <a:off x="9144000" y="1422400"/>
            <a:ext cx="1422400" cy="1422400"/>
          </a:xfrm>
          <a:prstGeom prst="roundRect">
            <a:avLst>
              <a:gd name="adj" fmla="val 1786"/>
            </a:avLst>
          </a:prstGeom>
          <a:solidFill>
            <a:srgbClr val="F2A65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83600" y="7112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margin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46208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FYRIR BYRJENDUR</a:t>
            </a:r>
            <a:endParaRPr lang="en-US" sz="1200" dirty="0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387861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Selectors, stigveldi</a:t>
            </a:r>
            <a:endParaRPr lang="en-US" sz="6000" dirty="0"/>
          </a:p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&amp; box-model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12800" y="568201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C9CB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Hvernig við veljum element – og hvernig þau taka pláss.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MARKMIÐ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Í lok tímans getur þú…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175250" cy="1575991"/>
          </a:xfrm>
          <a:prstGeom prst="roundRect">
            <a:avLst>
              <a:gd name="adj" fmla="val 6245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48007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3150" y="2688481"/>
            <a:ext cx="480072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Valið element með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element-, class- og id-selectors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0775" y="1938586"/>
            <a:ext cx="5175250" cy="1575991"/>
          </a:xfrm>
          <a:prstGeom prst="roundRect">
            <a:avLst>
              <a:gd name="adj" fmla="val 6245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8" name="Text 6"/>
          <p:cNvSpPr/>
          <p:nvPr/>
        </p:nvSpPr>
        <p:spPr>
          <a:xfrm>
            <a:off x="6457950" y="2195761"/>
            <a:ext cx="48007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57950" y="2688481"/>
            <a:ext cx="480072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Notað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stigveldi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– afkomendur, börn, systkini – og pseudo-classes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3724126"/>
            <a:ext cx="5175250" cy="1575991"/>
          </a:xfrm>
          <a:prstGeom prst="roundRect">
            <a:avLst>
              <a:gd name="adj" fmla="val 6245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1" name="Text 9"/>
          <p:cNvSpPr/>
          <p:nvPr/>
        </p:nvSpPr>
        <p:spPr>
          <a:xfrm>
            <a:off x="1073150" y="3981301"/>
            <a:ext cx="48007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3150" y="4474021"/>
            <a:ext cx="480072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Útskýrt hvaða regla vinnur: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cascade &amp; specificity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0775" y="3724126"/>
            <a:ext cx="5175250" cy="1575991"/>
          </a:xfrm>
          <a:prstGeom prst="roundRect">
            <a:avLst>
              <a:gd name="adj" fmla="val 6245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4" name="Text 12"/>
          <p:cNvSpPr/>
          <p:nvPr/>
        </p:nvSpPr>
        <p:spPr>
          <a:xfrm>
            <a:off x="6457950" y="3981301"/>
            <a:ext cx="48007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57950" y="447402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Reiknað út raunstærð kassa með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box-model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UPPRIFJUN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Uppbygging CSS-reglu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5384800" cy="2702322"/>
          </a:xfrm>
          <a:prstGeom prst="roundRect">
            <a:avLst>
              <a:gd name="adj" fmla="val 3760"/>
            </a:avLst>
          </a:prstGeom>
          <a:solidFill>
            <a:srgbClr val="1B1F3B"/>
          </a:solidFill>
          <a:ln/>
        </p:spPr>
        <p:txBody>
          <a:bodyPr wrap="square" lIns="275042" tIns="224242" rIns="131786" bIns="224242" rtlCol="0" anchor="ctr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2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200" dirty="0">
                <a:solidFill>
                  <a:schemeClr val="accent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2200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3300"/>
              </a:lnSpc>
              <a:buNone/>
            </a:pPr>
            <a:r>
              <a:rPr lang="en-US" sz="2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2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color</a:t>
            </a:r>
            <a:r>
              <a:rPr lang="en-US" sz="2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tomato;</a:t>
            </a:r>
            <a:endParaRPr lang="en-US" sz="2200" dirty="0"/>
          </a:p>
          <a:p>
            <a:pPr marL="0" indent="0" algn="l">
              <a:lnSpc>
                <a:spcPts val="3300"/>
              </a:lnSpc>
              <a:buNone/>
            </a:pPr>
            <a:r>
              <a:rPr lang="en-US" sz="2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2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font-size</a:t>
            </a:r>
            <a:r>
              <a:rPr lang="en-US" sz="2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48px;</a:t>
            </a:r>
            <a:endParaRPr lang="en-US" sz="2200" dirty="0"/>
          </a:p>
          <a:p>
            <a:pPr marL="0" indent="0" algn="l">
              <a:lnSpc>
                <a:spcPts val="33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200" dirty="0">
              <a:solidFill>
                <a:schemeClr val="accent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604000" y="1935411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6" name="Text 4"/>
          <p:cNvSpPr/>
          <p:nvPr/>
        </p:nvSpPr>
        <p:spPr>
          <a:xfrm>
            <a:off x="6908800" y="1935411"/>
            <a:ext cx="177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Selector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08800" y="2245271"/>
            <a:ext cx="20688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Hvaða element á að stíla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04000" y="2661791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8FC1FF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9" name="Text 7"/>
          <p:cNvSpPr/>
          <p:nvPr/>
        </p:nvSpPr>
        <p:spPr>
          <a:xfrm>
            <a:off x="6908800" y="2661791"/>
            <a:ext cx="235035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Eiginleiki (property)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8800" y="2971651"/>
            <a:ext cx="20173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Hverju á að breyta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0350" y="3394521"/>
            <a:ext cx="139700" cy="139700"/>
          </a:xfrm>
          <a:prstGeom prst="roundRect">
            <a:avLst>
              <a:gd name="adj" fmla="val 22727"/>
            </a:avLst>
          </a:prstGeom>
          <a:solidFill>
            <a:srgbClr val="E8E6F0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2" name="Text 10"/>
          <p:cNvSpPr/>
          <p:nvPr/>
        </p:nvSpPr>
        <p:spPr>
          <a:xfrm>
            <a:off x="6908800" y="3388171"/>
            <a:ext cx="149835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Gildi (value)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8800" y="3698032"/>
            <a:ext cx="17370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Hvernig því er breytt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04000" y="4114552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B4501A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15" name="Text 13"/>
          <p:cNvSpPr/>
          <p:nvPr/>
        </p:nvSpPr>
        <p:spPr>
          <a:xfrm>
            <a:off x="6908800" y="4114552"/>
            <a:ext cx="24852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Yfirlýsing (declaration)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8800" y="4424412"/>
            <a:ext cx="28954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eiginleiki: gildi; – alltaf með ; í lokin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UPPRIFJUN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Þrjár leiðir til að tengja CSS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3371850" cy="2256730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29432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Bad practice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510681"/>
            <a:ext cx="294322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3150" y="2947541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  <p:txBody>
          <a:bodyPr wrap="square" lIns="130082" tIns="130082" rIns="53501" bIns="10468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</a:t>
            </a:r>
            <a:r>
              <a:rPr lang="en-US" sz="1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style="color:red"</a:t>
            </a:r>
            <a:r>
              <a:rPr lang="en-US" sz="12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7375" y="1938586"/>
            <a:ext cx="3371850" cy="2256730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9" name="Text 7"/>
          <p:cNvSpPr/>
          <p:nvPr/>
        </p:nvSpPr>
        <p:spPr>
          <a:xfrm>
            <a:off x="4654550" y="2195761"/>
            <a:ext cx="29432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Gott </a:t>
            </a:r>
            <a:r>
              <a:rPr lang="en-US" sz="1200" b="1" kern="0" spc="100" dirty="0" err="1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fyrir</a:t>
            </a:r>
            <a:r>
              <a:rPr lang="en-US" sz="1200" b="1" kern="0" spc="1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1200" b="1" kern="0" spc="100" dirty="0" err="1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stuttar</a:t>
            </a:r>
            <a:r>
              <a:rPr lang="en-US" sz="1200" b="1" kern="0" spc="1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1200" b="1" kern="0" spc="100" dirty="0" err="1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æfingar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54550" y="2510681"/>
            <a:ext cx="294322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&lt;style&gt; í head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54550" y="2947541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1B1F3B"/>
          </a:solidFill>
          <a:ln/>
        </p:spPr>
        <p:txBody>
          <a:bodyPr wrap="square" lIns="130082" tIns="130082" rIns="53501" bIns="10468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&lt;style&gt;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1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color: red; }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&lt;/style&gt;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85125" y="1944936"/>
            <a:ext cx="3384550" cy="224403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B4501A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3" name="Text 11"/>
          <p:cNvSpPr/>
          <p:nvPr/>
        </p:nvSpPr>
        <p:spPr>
          <a:xfrm>
            <a:off x="8248650" y="2208461"/>
            <a:ext cx="29432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NOTUM ÞETTA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8650" y="2523381"/>
            <a:ext cx="294322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Ytri skrá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48650" y="2960241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  <p:txBody>
          <a:bodyPr wrap="square" lIns="130082" tIns="130082" rIns="53501" bIns="10468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&lt;link</a:t>
            </a:r>
            <a:r>
              <a:rPr lang="en-US" sz="1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rel="stylesheet"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href="style.css"</a:t>
            </a:r>
            <a:r>
              <a:rPr lang="en-US" sz="12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GRUNN-SELECTORS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Element-selector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HTML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250331"/>
            <a:ext cx="5181600" cy="1422400"/>
          </a:xfrm>
          <a:prstGeom prst="roundRect">
            <a:avLst>
              <a:gd name="adj" fmla="val 7143"/>
            </a:avLst>
          </a:prstGeom>
          <a:solidFill>
            <a:srgbClr val="1B1F3B"/>
          </a:solidFill>
          <a:ln/>
        </p:spPr>
        <p:txBody>
          <a:bodyPr wrap="square" lIns="275042" tIns="224242" rIns="137882" bIns="198842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&lt;h1&gt;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Kaffi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&lt;/h1&gt;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Fyrsta málsgrein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Önnur málsgrein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97600" y="1935411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7600" y="2250331"/>
            <a:ext cx="5181600" cy="1422400"/>
          </a:xfrm>
          <a:prstGeom prst="roundRect">
            <a:avLst>
              <a:gd name="adj" fmla="val 7143"/>
            </a:avLst>
          </a:prstGeom>
          <a:solidFill>
            <a:srgbClr val="1B1F3B"/>
          </a:solidFill>
          <a:ln/>
        </p:spPr>
        <p:txBody>
          <a:bodyPr wrap="square" lIns="275042" tIns="224242" rIns="137882" bIns="198842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color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#c2571a;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977531"/>
            <a:ext cx="1088339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</a:t>
            </a:r>
            <a:r>
              <a:rPr lang="en-US" sz="22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Velur </a:t>
            </a: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öll</a:t>
            </a:r>
            <a:r>
              <a:rPr lang="en-US" sz="22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element af þessari gerð. Báðar &lt;p&gt; verða appelsínugular – h1 breytist ekki.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GRUNN-SELECTORS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Class-selector: </a:t>
            </a:r>
            <a:r>
              <a:rPr lang="en-US" sz="3600" b="1" i="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.klasi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64044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HTML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250331"/>
            <a:ext cx="6217940" cy="1308100"/>
          </a:xfrm>
          <a:prstGeom prst="roundRect">
            <a:avLst>
              <a:gd name="adj" fmla="val 7767"/>
            </a:avLst>
          </a:prstGeom>
          <a:solidFill>
            <a:srgbClr val="1B1F3B"/>
          </a:solidFill>
          <a:ln/>
        </p:spPr>
        <p:txBody>
          <a:bodyPr wrap="square" lIns="275042" tIns="224242" rIns="106792" bIns="1988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class="verd"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590 kr.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class="verd tilbod"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450 kr.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class="tilbod"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Kaka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&lt;/li&gt;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33940" y="1935411"/>
            <a:ext cx="4269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3940" y="2250331"/>
            <a:ext cx="4145260" cy="2108200"/>
          </a:xfrm>
          <a:prstGeom prst="roundRect">
            <a:avLst>
              <a:gd name="adj" fmla="val 4819"/>
            </a:avLst>
          </a:prstGeom>
          <a:solidFill>
            <a:srgbClr val="1B1F3B"/>
          </a:solidFill>
          <a:ln/>
        </p:spPr>
        <p:txBody>
          <a:bodyPr wrap="square" lIns="275042" tIns="224242" rIns="168973" bIns="1988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.verd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font-weight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bold;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.tilbod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color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#c2571a;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5975" y="4666506"/>
            <a:ext cx="3380284" cy="1083270"/>
          </a:xfrm>
          <a:prstGeom prst="roundRect">
            <a:avLst>
              <a:gd name="adj" fmla="val 908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 wrap="square" lIns="228347" tIns="228347" rIns="142369" bIns="22834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Punktur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í CSS – ekki í HTML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05809" y="4666506"/>
            <a:ext cx="3380333" cy="1083270"/>
          </a:xfrm>
          <a:prstGeom prst="roundRect">
            <a:avLst>
              <a:gd name="adj" fmla="val 908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 wrap="square" lIns="228347" tIns="228347" rIns="142368" bIns="20294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Mörg element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geta haft sama klasa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95692" y="4666506"/>
            <a:ext cx="3380333" cy="1083270"/>
          </a:xfrm>
          <a:prstGeom prst="roundRect">
            <a:avLst>
              <a:gd name="adj" fmla="val 908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 wrap="square" lIns="228347" tIns="228347" rIns="142368" bIns="20294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Eitt element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getur haft marga klasa – bil á milli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1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GRUNN-SELECTORS</a:t>
            </a:r>
            <a:endParaRPr lang="en-US" sz="1196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0973"/>
            <a:ext cx="10883392" cy="512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73"/>
              </a:lnSpc>
              <a:buNone/>
            </a:pPr>
            <a:r>
              <a:rPr lang="en-US" sz="3521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ID-selector: </a:t>
            </a:r>
            <a:r>
              <a:rPr lang="en-US" sz="3521" b="1" i="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#einstakt</a:t>
            </a:r>
            <a:endParaRPr lang="en-US" sz="3521" dirty="0"/>
          </a:p>
        </p:txBody>
      </p:sp>
      <p:sp>
        <p:nvSpPr>
          <p:cNvPr id="4" name="Text 2"/>
          <p:cNvSpPr/>
          <p:nvPr/>
        </p:nvSpPr>
        <p:spPr>
          <a:xfrm>
            <a:off x="812800" y="1912739"/>
            <a:ext cx="5435600" cy="3929261"/>
          </a:xfrm>
          <a:prstGeom prst="roundRect">
            <a:avLst>
              <a:gd name="adj" fmla="val 2586"/>
            </a:avLst>
          </a:prstGeom>
          <a:solidFill>
            <a:srgbClr val="1B1F3B"/>
          </a:solidFill>
          <a:ln/>
        </p:spPr>
        <p:txBody>
          <a:bodyPr wrap="square" lIns="275042" tIns="224242" rIns="130262" bIns="2242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&lt;!-- HTML --&gt;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&lt;section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id="opnunartimi"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…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&lt;/section&gt;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CSS */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#opnunartimi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background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#fff4cc;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56375" y="1915914"/>
            <a:ext cx="4819650" cy="1201787"/>
          </a:xfrm>
          <a:prstGeom prst="roundRect">
            <a:avLst>
              <a:gd name="adj" fmla="val 8190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Text 4"/>
          <p:cNvSpPr/>
          <p:nvPr/>
        </p:nvSpPr>
        <p:spPr>
          <a:xfrm>
            <a:off x="6813550" y="2173089"/>
            <a:ext cx="44344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Aðeins eitt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13550" y="2518519"/>
            <a:ext cx="4559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Hvert id má bara koma fyrir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einu sinni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á síðu.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18795" y="3334916"/>
            <a:ext cx="4819650" cy="1201787"/>
          </a:xfrm>
          <a:prstGeom prst="roundRect">
            <a:avLst>
              <a:gd name="adj" fmla="val 8190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2" name="Text 10"/>
          <p:cNvSpPr/>
          <p:nvPr/>
        </p:nvSpPr>
        <p:spPr>
          <a:xfrm>
            <a:off x="6875970" y="3592091"/>
            <a:ext cx="4434459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1185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Þumalputtaregla</a:t>
            </a:r>
            <a:endParaRPr lang="en-US" sz="1185" dirty="0"/>
          </a:p>
        </p:txBody>
      </p:sp>
      <p:sp>
        <p:nvSpPr>
          <p:cNvPr id="13" name="Text 11"/>
          <p:cNvSpPr/>
          <p:nvPr/>
        </p:nvSpPr>
        <p:spPr>
          <a:xfrm>
            <a:off x="6875970" y="3869407"/>
            <a:ext cx="4434459" cy="435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165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Stílum með </a:t>
            </a:r>
            <a:r>
              <a:rPr lang="en-US" sz="1165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class</a:t>
            </a:r>
            <a:r>
              <a:rPr lang="en-US" sz="1165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 Notum id fyrir tengla (#akkeri) og JavaScript.</a:t>
            </a:r>
            <a:endParaRPr lang="en-US" sz="1165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GRUNN-SELECTORS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Universal &amp; hópun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175250" cy="3044130"/>
          </a:xfrm>
          <a:prstGeom prst="roundRect">
            <a:avLst>
              <a:gd name="adj" fmla="val 3233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Universal: *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3150" y="2632621"/>
            <a:ext cx="4660900" cy="1422400"/>
          </a:xfrm>
          <a:prstGeom prst="roundRect">
            <a:avLst>
              <a:gd name="adj" fmla="val 7143"/>
            </a:avLst>
          </a:prstGeom>
          <a:solidFill>
            <a:srgbClr val="1B1F3B"/>
          </a:solidFill>
          <a:ln/>
        </p:spPr>
        <p:txBody>
          <a:bodyPr wrap="square" lIns="275042" tIns="224242" rIns="153503" bIns="198842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box-sizing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border-box;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4156621"/>
            <a:ext cx="480072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Velur </a:t>
            </a:r>
            <a:r>
              <a:rPr lang="en-US" sz="1600" b="1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öll</a:t>
            </a: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element á síðunni. Notum </a:t>
            </a:r>
            <a:r>
              <a:rPr lang="en-US" sz="1600" dirty="0" err="1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sjaldan</a:t>
            </a: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– </a:t>
            </a:r>
            <a:r>
              <a:rPr lang="en-US" sz="1600" dirty="0" err="1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vanalega</a:t>
            </a: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fyrir „reset“.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0775" y="1938586"/>
            <a:ext cx="5175250" cy="3044130"/>
          </a:xfrm>
          <a:prstGeom prst="roundRect">
            <a:avLst>
              <a:gd name="adj" fmla="val 3233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9" name="Text 7"/>
          <p:cNvSpPr/>
          <p:nvPr/>
        </p:nvSpPr>
        <p:spPr>
          <a:xfrm>
            <a:off x="6457950" y="219576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Hópun: ,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57950" y="2632621"/>
            <a:ext cx="4660900" cy="1422400"/>
          </a:xfrm>
          <a:prstGeom prst="roundRect">
            <a:avLst>
              <a:gd name="adj" fmla="val 7143"/>
            </a:avLst>
          </a:prstGeom>
          <a:solidFill>
            <a:srgbClr val="1B1F3B"/>
          </a:solidFill>
          <a:ln/>
        </p:spPr>
        <p:txBody>
          <a:bodyPr wrap="square" lIns="275042" tIns="224242" rIns="153503" bIns="198842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h2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h3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font-family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Georgia;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57950" y="4156621"/>
            <a:ext cx="480072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Kommu á milli = sama regla á marga selectors. Sparar endurtekningu.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GRUNN-SELECTORS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Samantekt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298216"/>
              </p:ext>
            </p:extLst>
          </p:nvPr>
        </p:nvGraphicFramePr>
        <p:xfrm>
          <a:off x="825500" y="1948111"/>
          <a:ext cx="10553700" cy="3962084"/>
        </p:xfrm>
        <a:graphic>
          <a:graphicData uri="http://schemas.openxmlformats.org/drawingml/2006/table">
            <a:tbl>
              <a:tblPr/>
              <a:tblGrid>
                <a:gridCol w="2321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1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Gerð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Dæmi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Velur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Priority 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Element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öll &lt;p&gt;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0-0-1 (least,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ef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það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hefur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classname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mun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stílanir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í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class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yfirskrifa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element)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Class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.verd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öll með class="verd"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0-1-0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ID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#haus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eitt með id="haus"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1-0-0 (most, ID er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með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mesta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priority of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yfirskrifar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því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 alla </a:t>
                      </a:r>
                      <a:r>
                        <a:rPr lang="en-US" sz="1600" dirty="0" err="1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stíla</a:t>
                      </a: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Universal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*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öll element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0-0-0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Hópun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h1, h2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öll h1 og öll h2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hver fyrir sig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07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9980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ÆFING 1 · SAMAN · 15 MÍN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25700"/>
            <a:ext cx="491845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Pönnukökur ömmu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178300"/>
            <a:ext cx="4775200" cy="416520"/>
          </a:xfrm>
          <a:prstGeom prst="roundRect">
            <a:avLst>
              <a:gd name="adj" fmla="val 18294"/>
            </a:avLst>
          </a:prstGeom>
          <a:solidFill>
            <a:srgbClr val="1B1F3B"/>
          </a:solidFill>
          <a:ln/>
        </p:spPr>
        <p:txBody>
          <a:bodyPr wrap="square" lIns="1300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aefingar/aefing-1-grunn-selectors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94400" y="812800"/>
            <a:ext cx="5384800" cy="5029200"/>
          </a:xfrm>
          <a:prstGeom prst="roundRect">
            <a:avLst>
              <a:gd name="adj" fmla="val 3030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6" name="Text 4"/>
          <p:cNvSpPr/>
          <p:nvPr/>
        </p:nvSpPr>
        <p:spPr>
          <a:xfrm>
            <a:off x="6326535" y="2260600"/>
            <a:ext cx="4883501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Opnið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index.html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í vafra og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style.css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í ritli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body og h1 – element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h1, h2 – hópun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.inngangur og .mikilvaegt – class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#abending – id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Tveir klasar: hvor vinnur?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Tilraun: * { color: red;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STIGVELDI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HTML er tré</a:t>
            </a:r>
            <a:endParaRPr lang="en-US" sz="3600" dirty="0"/>
          </a:p>
        </p:txBody>
      </p:sp>
      <p:pic>
        <p:nvPicPr>
          <p:cNvPr id="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05200" y="2616200"/>
            <a:ext cx="2641600" cy="736600"/>
          </a:xfrm>
          <a:prstGeom prst="rect">
            <a:avLst/>
          </a:prstGeom>
        </p:spPr>
      </p:pic>
      <p:pic>
        <p:nvPicPr>
          <p:cNvPr id="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45200" y="2616200"/>
            <a:ext cx="2641600" cy="736600"/>
          </a:xfrm>
          <a:prstGeom prst="rect">
            <a:avLst/>
          </a:prstGeom>
        </p:spPr>
      </p:pic>
      <p:pic>
        <p:nvPicPr>
          <p:cNvPr id="6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05200" y="3759200"/>
            <a:ext cx="101600" cy="736600"/>
          </a:xfrm>
          <a:prstGeom prst="rect">
            <a:avLst/>
          </a:prstGeom>
        </p:spPr>
      </p:pic>
      <p:pic>
        <p:nvPicPr>
          <p:cNvPr id="7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34200" y="3759200"/>
            <a:ext cx="1752600" cy="736600"/>
          </a:xfrm>
          <a:prstGeom prst="rect">
            <a:avLst/>
          </a:prstGeom>
        </p:spPr>
      </p:pic>
      <p:pic>
        <p:nvPicPr>
          <p:cNvPr id="8" name="Image 4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85200" y="3759200"/>
            <a:ext cx="101600" cy="736600"/>
          </a:xfrm>
          <a:prstGeom prst="rect">
            <a:avLst/>
          </a:prstGeom>
        </p:spPr>
      </p:pic>
      <p:pic>
        <p:nvPicPr>
          <p:cNvPr id="9" name="Image 5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85200" y="3759200"/>
            <a:ext cx="1752600" cy="7366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5470525" y="2168525"/>
            <a:ext cx="1250950" cy="4889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body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2930525" y="3311525"/>
            <a:ext cx="1250950" cy="4889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header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8010525" y="3311525"/>
            <a:ext cx="1250950" cy="488950"/>
          </a:xfrm>
          <a:prstGeom prst="roundRect">
            <a:avLst>
              <a:gd name="adj" fmla="val 13636"/>
            </a:avLst>
          </a:prstGeom>
          <a:solidFill>
            <a:srgbClr val="FCE3CF"/>
          </a:solidFill>
          <a:ln w="19050">
            <a:solidFill>
              <a:srgbClr val="B4501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main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2930525" y="4454525"/>
            <a:ext cx="1250950" cy="4889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6359525" y="4454525"/>
            <a:ext cx="1250950" cy="488950"/>
          </a:xfrm>
          <a:prstGeom prst="roundRect">
            <a:avLst>
              <a:gd name="adj" fmla="val 13636"/>
            </a:avLst>
          </a:prstGeom>
          <a:solidFill>
            <a:srgbClr val="FCE3CF"/>
          </a:solidFill>
          <a:ln w="19050">
            <a:solidFill>
              <a:srgbClr val="B4501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h2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010525" y="4454525"/>
            <a:ext cx="1250950" cy="488950"/>
          </a:xfrm>
          <a:prstGeom prst="roundRect">
            <a:avLst>
              <a:gd name="adj" fmla="val 13636"/>
            </a:avLst>
          </a:prstGeom>
          <a:solidFill>
            <a:srgbClr val="FCE3CF"/>
          </a:solidFill>
          <a:ln w="19050">
            <a:solidFill>
              <a:srgbClr val="B4501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9661525" y="4454525"/>
            <a:ext cx="1250950" cy="488950"/>
          </a:xfrm>
          <a:prstGeom prst="roundRect">
            <a:avLst>
              <a:gd name="adj" fmla="val 13636"/>
            </a:avLst>
          </a:prstGeom>
          <a:solidFill>
            <a:srgbClr val="FCE3CF"/>
          </a:solidFill>
          <a:ln w="19050">
            <a:solidFill>
              <a:srgbClr val="B4501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812800" y="52705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main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er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foreldri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h2 og p · h2 og p eru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börn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main og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systkini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hvert annars · öll eru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afkomendur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body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STIGVELDI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Afkomendur (bil) vs. börn (&gt;)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5435600" cy="3083421"/>
          </a:xfrm>
          <a:prstGeom prst="roundRect">
            <a:avLst>
              <a:gd name="adj" fmla="val 3295"/>
            </a:avLst>
          </a:prstGeom>
          <a:solidFill>
            <a:srgbClr val="1B1F3B"/>
          </a:solidFill>
          <a:ln/>
        </p:spPr>
        <p:txBody>
          <a:bodyPr wrap="square" lIns="275042" tIns="224242" rIns="130262" bIns="224242" rtlCol="0" anchor="ctr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&lt;nav&gt;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&lt;ul&gt;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&lt;li&gt;&lt;a&gt;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Forsíða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&lt;/a&gt;&lt;/li&gt;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&lt;/ul&gt;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Innskrá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&lt;/nav&gt;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56375" y="1938586"/>
            <a:ext cx="4819650" cy="1433761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Text 4"/>
          <p:cNvSpPr/>
          <p:nvPr/>
        </p:nvSpPr>
        <p:spPr>
          <a:xfrm>
            <a:off x="6813550" y="2195761"/>
            <a:ext cx="4434459" cy="35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8"/>
              </a:lnSpc>
              <a:buNone/>
            </a:pPr>
            <a:r>
              <a:rPr lang="en-US" sz="187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nav a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6813550" y="2630537"/>
            <a:ext cx="4559300" cy="5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11"/>
              </a:lnSpc>
              <a:buNone/>
            </a:pPr>
            <a:r>
              <a:rPr lang="en-US" sz="1365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Allir &lt;a&gt; </a:t>
            </a:r>
            <a:r>
              <a:rPr lang="en-US" sz="1365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einhvers staðar</a:t>
            </a:r>
            <a:r>
              <a:rPr lang="en-US" sz="1365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inni í nav → </a:t>
            </a:r>
            <a:r>
              <a:rPr lang="en-US" sz="1365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báðir</a:t>
            </a:r>
            <a:r>
              <a:rPr lang="en-US" sz="1365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tenglarnir</a:t>
            </a:r>
            <a:endParaRPr lang="en-US" sz="1365" dirty="0"/>
          </a:p>
        </p:txBody>
      </p:sp>
      <p:sp>
        <p:nvSpPr>
          <p:cNvPr id="8" name="Shape 6"/>
          <p:cNvSpPr/>
          <p:nvPr/>
        </p:nvSpPr>
        <p:spPr>
          <a:xfrm>
            <a:off x="6556375" y="3581896"/>
            <a:ext cx="4819650" cy="1433761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9" name="Text 7"/>
          <p:cNvSpPr/>
          <p:nvPr/>
        </p:nvSpPr>
        <p:spPr>
          <a:xfrm>
            <a:off x="6813550" y="3839071"/>
            <a:ext cx="443445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nav &gt; 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13550" y="4331791"/>
            <a:ext cx="443445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Aðeins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bein börn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nav → bara „Innskrá“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STIGVELDI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Systkini: + og ~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6400800" cy="3083421"/>
          </a:xfrm>
          <a:prstGeom prst="roundRect">
            <a:avLst>
              <a:gd name="adj" fmla="val 3295"/>
            </a:avLst>
          </a:prstGeom>
          <a:solidFill>
            <a:srgbClr val="1B1F3B"/>
          </a:solidFill>
          <a:ln/>
        </p:spPr>
        <p:txBody>
          <a:bodyPr wrap="square" lIns="275042" tIns="224242" rIns="101306" bIns="224242" rtlCol="0" anchor="ctr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&lt;h2&gt;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Fyrirsögn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&lt;/h2&gt;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← h2 + p  og  h2 ~ p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← h2 ~ p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&lt;div&gt;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…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&lt;/div&gt;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← h2 ~ 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21575" y="1938586"/>
            <a:ext cx="3854450" cy="1433761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Text 4"/>
          <p:cNvSpPr/>
          <p:nvPr/>
        </p:nvSpPr>
        <p:spPr>
          <a:xfrm>
            <a:off x="7778750" y="2195761"/>
            <a:ext cx="3440303" cy="35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8"/>
              </a:lnSpc>
              <a:buNone/>
            </a:pPr>
            <a:r>
              <a:rPr lang="en-US" sz="187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h2 + p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7778750" y="2630537"/>
            <a:ext cx="3440303" cy="5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11"/>
              </a:lnSpc>
              <a:buNone/>
            </a:pPr>
            <a:r>
              <a:rPr lang="en-US" sz="1365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Næsta</a:t>
            </a:r>
            <a:r>
              <a:rPr lang="en-US" sz="1365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systkini – aðeins það sem kemur beint á eftir</a:t>
            </a:r>
            <a:endParaRPr lang="en-US" sz="1365" dirty="0"/>
          </a:p>
        </p:txBody>
      </p:sp>
      <p:sp>
        <p:nvSpPr>
          <p:cNvPr id="8" name="Shape 6"/>
          <p:cNvSpPr/>
          <p:nvPr/>
        </p:nvSpPr>
        <p:spPr>
          <a:xfrm>
            <a:off x="7521575" y="3581896"/>
            <a:ext cx="3854450" cy="1433761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9" name="Text 7"/>
          <p:cNvSpPr/>
          <p:nvPr/>
        </p:nvSpPr>
        <p:spPr>
          <a:xfrm>
            <a:off x="7778750" y="3839071"/>
            <a:ext cx="344030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h2 ~ 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8750" y="4331791"/>
            <a:ext cx="344030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Öll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p-systkini sem koma á eftir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STIGVELDI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Pseudo-classes: ástand og staðsetning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175250" cy="1184870"/>
          </a:xfrm>
          <a:prstGeom prst="roundRect">
            <a:avLst>
              <a:gd name="adj" fmla="val 8307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a:hover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58182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Þegar músin er yfir elementinu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0775" y="1938586"/>
            <a:ext cx="5175250" cy="1184870"/>
          </a:xfrm>
          <a:prstGeom prst="roundRect">
            <a:avLst>
              <a:gd name="adj" fmla="val 8307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8" name="Text 6"/>
          <p:cNvSpPr/>
          <p:nvPr/>
        </p:nvSpPr>
        <p:spPr>
          <a:xfrm>
            <a:off x="6457950" y="219576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input:focus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7950" y="258182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Þegar smellt hefur verið í reitinn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3333006"/>
            <a:ext cx="5175250" cy="1184870"/>
          </a:xfrm>
          <a:prstGeom prst="roundRect">
            <a:avLst>
              <a:gd name="adj" fmla="val 8307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1" name="Text 9"/>
          <p:cNvSpPr/>
          <p:nvPr/>
        </p:nvSpPr>
        <p:spPr>
          <a:xfrm>
            <a:off x="1073150" y="359018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li:first-child · li:last-child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3150" y="397624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Fyrsta / síðasta barnið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0775" y="3333006"/>
            <a:ext cx="5175250" cy="1184870"/>
          </a:xfrm>
          <a:prstGeom prst="roundRect">
            <a:avLst>
              <a:gd name="adj" fmla="val 8307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4" name="Text 12"/>
          <p:cNvSpPr/>
          <p:nvPr/>
        </p:nvSpPr>
        <p:spPr>
          <a:xfrm>
            <a:off x="6457950" y="359018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li:nth-child(2) · (even) · (odd)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7950" y="397624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Eftir númeri – frábært fyrir röndótta lista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STIGVELDI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Attribute-selectors: [eigind]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111"/>
          <a:ext cx="10553700" cy="2196705"/>
        </p:xfrm>
        <a:graphic>
          <a:graphicData uri="http://schemas.openxmlformats.org/drawingml/2006/table">
            <a:tbl>
              <a:tblPr/>
              <a:tblGrid>
                <a:gridCol w="474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4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Selector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Velur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input[type="email"]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input þar sem type er nákvæmlega „email“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a[href^="https"]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tenglar sem byrja á https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a[href$=".pdf"]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tenglar sem enda á .pdf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img[alt]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myndir sem hafa alt-eigind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49614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Hornklofar </a:t>
            </a:r>
            <a:r>
              <a:rPr lang="en-US" sz="1600" b="1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 ]</a:t>
            </a: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= velja eftir eigind (attribute) í HTML-taginu.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STIGVELDI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Cascade: þegar reglur rekast 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5435600" cy="3111302"/>
          </a:xfrm>
          <a:prstGeom prst="roundRect">
            <a:avLst>
              <a:gd name="adj" fmla="val 3266"/>
            </a:avLst>
          </a:prstGeom>
          <a:solidFill>
            <a:srgbClr val="1B1F3B"/>
          </a:solidFill>
          <a:ln/>
        </p:spPr>
        <p:txBody>
          <a:bodyPr wrap="square" lIns="275042" tIns="611493" rIns="130262" bIns="586093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color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blue; 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color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red; 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Sami styrkur →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 síðari reglan vinnur.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 Textinn verður rauður. */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53200" y="1935411"/>
            <a:ext cx="49707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Vafrinn spyr í þessari röð: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56375" y="2324646"/>
            <a:ext cx="4819650" cy="834330"/>
          </a:xfrm>
          <a:prstGeom prst="roundRect">
            <a:avLst>
              <a:gd name="adj" fmla="val 11797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7" name="Text 5"/>
          <p:cNvSpPr/>
          <p:nvPr/>
        </p:nvSpPr>
        <p:spPr>
          <a:xfrm>
            <a:off x="6762750" y="2546251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270750" y="2480221"/>
            <a:ext cx="162991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!important?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70750" y="2790081"/>
            <a:ext cx="18949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Neyðarúrræði – forðist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6375" y="3266926"/>
            <a:ext cx="4819650" cy="834330"/>
          </a:xfrm>
          <a:prstGeom prst="roundRect">
            <a:avLst>
              <a:gd name="adj" fmla="val 11797"/>
            </a:avLst>
          </a:prstGeom>
          <a:solidFill>
            <a:srgbClr val="FCE3C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 dirty="0"/>
          </a:p>
        </p:txBody>
      </p:sp>
      <p:sp>
        <p:nvSpPr>
          <p:cNvPr id="11" name="Text 9"/>
          <p:cNvSpPr/>
          <p:nvPr/>
        </p:nvSpPr>
        <p:spPr>
          <a:xfrm>
            <a:off x="6762750" y="3488531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70750" y="3422501"/>
            <a:ext cx="20576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Specificity (priority)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70750" y="3732361"/>
            <a:ext cx="23972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Hvor selectorinn er sterkari?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56375" y="4209207"/>
            <a:ext cx="4819650" cy="834330"/>
          </a:xfrm>
          <a:prstGeom prst="roundRect">
            <a:avLst>
              <a:gd name="adj" fmla="val 11797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5" name="Text 13"/>
          <p:cNvSpPr/>
          <p:nvPr/>
        </p:nvSpPr>
        <p:spPr>
          <a:xfrm>
            <a:off x="6762750" y="4430812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70750" y="4364782"/>
            <a:ext cx="253091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Röð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70750" y="4674642"/>
            <a:ext cx="29486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Jafnt? Sú sem kemur síðast vinnur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STIGVELDI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Specificity: stigin þrjú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3380284" cy="1870670"/>
          </a:xfrm>
          <a:prstGeom prst="roundRect">
            <a:avLst>
              <a:gd name="adj" fmla="val 5261"/>
            </a:avLst>
          </a:prstGeom>
          <a:solidFill>
            <a:srgbClr val="1B1F3B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295191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1-0-0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3150" y="2912021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3150" y="3323481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CB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#haus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809" y="1938586"/>
            <a:ext cx="3380333" cy="1870670"/>
          </a:xfrm>
          <a:prstGeom prst="roundRect">
            <a:avLst>
              <a:gd name="adj" fmla="val 5261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9" name="Text 7"/>
          <p:cNvSpPr/>
          <p:nvPr/>
        </p:nvSpPr>
        <p:spPr>
          <a:xfrm>
            <a:off x="4662984" y="2195761"/>
            <a:ext cx="295196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0-1-0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62984" y="2912021"/>
            <a:ext cx="295196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Class o.fl.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2984" y="3323481"/>
            <a:ext cx="29519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.kort :hover [type]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692" y="1938586"/>
            <a:ext cx="3380333" cy="1870670"/>
          </a:xfrm>
          <a:prstGeom prst="roundRect">
            <a:avLst>
              <a:gd name="adj" fmla="val 5261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3" name="Text 11"/>
          <p:cNvSpPr/>
          <p:nvPr/>
        </p:nvSpPr>
        <p:spPr>
          <a:xfrm>
            <a:off x="8252867" y="2195761"/>
            <a:ext cx="295196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0-0-1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52867" y="2912021"/>
            <a:ext cx="295196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Element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52867" y="3323481"/>
            <a:ext cx="29519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 h1 li 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11723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Lesið frá vinstri, eins og tölu: </a:t>
            </a:r>
            <a:r>
              <a:rPr lang="en-US" sz="16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.menu a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(0-1-1) vinnur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nav ul li a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(0-0-4). Ein class slær öll element.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STIGVELDI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Gáta: hvaða lit fæ ég?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4876800" cy="1841500"/>
          </a:xfrm>
          <a:prstGeom prst="roundRect">
            <a:avLst>
              <a:gd name="adj" fmla="val 5517"/>
            </a:avLst>
          </a:prstGeom>
          <a:solidFill>
            <a:srgbClr val="1B1F3B"/>
          </a:solidFill>
          <a:ln/>
        </p:spPr>
        <p:txBody>
          <a:bodyPr wrap="square" lIns="275042" tIns="224242" rIns="147026" bIns="1988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&lt;footer&gt;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class="gata" id="gata"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Hvaða lit fæ ég?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&lt;/footer&gt;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92800" y="1935411"/>
            <a:ext cx="5486400" cy="1841500"/>
          </a:xfrm>
          <a:prstGeom prst="roundRect">
            <a:avLst>
              <a:gd name="adj" fmla="val 5517"/>
            </a:avLst>
          </a:prstGeom>
          <a:solidFill>
            <a:srgbClr val="1B1F3B"/>
          </a:solidFill>
          <a:ln/>
        </p:spPr>
        <p:txBody>
          <a:bodyPr wrap="square" lIns="275042" tIns="224242" rIns="128738" bIns="1988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{ color: red; }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.gata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{ color: orange; }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footer p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color: purple; }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p.gata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{ color: blue; }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#gata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{ color: green; 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826000"/>
            <a:ext cx="10566400" cy="589260"/>
          </a:xfrm>
          <a:prstGeom prst="roundRect">
            <a:avLst>
              <a:gd name="adj" fmla="val 17242"/>
            </a:avLst>
          </a:prstGeom>
          <a:solidFill>
            <a:srgbClr val="1B1F3B"/>
          </a:solidFill>
          <a:ln/>
        </p:spPr>
        <p:txBody>
          <a:bodyPr wrap="square" lIns="173442" tIns="122642" rIns="0" bIns="9724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Grænn.</a:t>
            </a:r>
            <a:r>
              <a:rPr lang="en-US" sz="160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#gata = 1-0-0. Án hans: blár (p.gata 0-1-1). Svo appelsínugulur (.gata 0-1-0 &gt; footer p 0-0-2).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STIGVELDI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Erfðir: sumt flæðir niður tréð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3380284" cy="291207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pic>
        <p:nvPicPr>
          <p:cNvPr id="5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221099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550" y="2195761"/>
            <a:ext cx="90428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Erfist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30808" y="2632621"/>
            <a:ext cx="2886634" cy="1650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color</a:t>
            </a:r>
            <a:endParaRPr lang="en-US" sz="1600" dirty="0"/>
          </a:p>
          <a:p>
            <a:pPr marL="196342" indent="-19634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font-family</a:t>
            </a:r>
            <a:endParaRPr lang="en-US" sz="1600" dirty="0"/>
          </a:p>
          <a:p>
            <a:pPr marL="196342" indent="-19634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font-size</a:t>
            </a:r>
            <a:endParaRPr lang="en-US" sz="1600" dirty="0"/>
          </a:p>
          <a:p>
            <a:pPr marL="196342" indent="-19634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line-height</a:t>
            </a:r>
            <a:endParaRPr lang="en-US" sz="1600" dirty="0"/>
          </a:p>
          <a:p>
            <a:pPr marL="196342" indent="-19634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text-align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05809" y="1938586"/>
            <a:ext cx="3380333" cy="291207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9" name="Text 6"/>
          <p:cNvSpPr/>
          <p:nvPr/>
        </p:nvSpPr>
        <p:spPr>
          <a:xfrm>
            <a:off x="4662984" y="2195761"/>
            <a:ext cx="23103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−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44814" y="2223691"/>
            <a:ext cx="164681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Erfist ekki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20642" y="2688481"/>
            <a:ext cx="2886685" cy="1325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margin · padding</a:t>
            </a:r>
            <a:endParaRPr lang="en-US" sz="1600" dirty="0"/>
          </a:p>
          <a:p>
            <a:pPr marL="196342" indent="-19634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border</a:t>
            </a:r>
            <a:endParaRPr lang="en-US" sz="1600" dirty="0"/>
          </a:p>
          <a:p>
            <a:pPr marL="196342" indent="-19634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width · height</a:t>
            </a:r>
            <a:endParaRPr lang="en-US" sz="1600" dirty="0"/>
          </a:p>
          <a:p>
            <a:pPr marL="196342" indent="-196342" algn="l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background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995692" y="1938586"/>
            <a:ext cx="3380333" cy="291207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3" name="Text 10"/>
          <p:cNvSpPr/>
          <p:nvPr/>
        </p:nvSpPr>
        <p:spPr>
          <a:xfrm>
            <a:off x="8252867" y="2195761"/>
            <a:ext cx="295196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Þess vegna…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52867" y="2632621"/>
            <a:ext cx="2865983" cy="1574800"/>
          </a:xfrm>
          <a:prstGeom prst="roundRect">
            <a:avLst>
              <a:gd name="adj" fmla="val 6452"/>
            </a:avLst>
          </a:prstGeom>
          <a:solidFill>
            <a:srgbClr val="1B1F3B"/>
          </a:solidFill>
          <a:ln/>
        </p:spPr>
        <p:txBody>
          <a:bodyPr wrap="square" lIns="275042" tIns="224242" rIns="207351" bIns="1988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body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font-family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Arial;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color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#333;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52867" y="4309021"/>
            <a:ext cx="295196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…og öll síðan fær letrið.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07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9980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ÆFING 2 · SAMAN · 15 MÍN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25700"/>
            <a:ext cx="491845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Ferða-</a:t>
            </a:r>
            <a:endParaRPr lang="en-US" sz="6000" dirty="0"/>
          </a:p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bloggið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178300"/>
            <a:ext cx="4775200" cy="416520"/>
          </a:xfrm>
          <a:prstGeom prst="roundRect">
            <a:avLst>
              <a:gd name="adj" fmla="val 18294"/>
            </a:avLst>
          </a:prstGeom>
          <a:solidFill>
            <a:srgbClr val="1B1F3B"/>
          </a:solidFill>
          <a:ln/>
        </p:spPr>
        <p:txBody>
          <a:bodyPr wrap="square" lIns="1300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aefingar/aefing-2-stigveldi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94400" y="812800"/>
            <a:ext cx="5384800" cy="5029200"/>
          </a:xfrm>
          <a:prstGeom prst="roundRect">
            <a:avLst>
              <a:gd name="adj" fmla="val 3030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6" name="Text 4"/>
          <p:cNvSpPr/>
          <p:nvPr/>
        </p:nvSpPr>
        <p:spPr>
          <a:xfrm>
            <a:off x="6326535" y="2260600"/>
            <a:ext cx="4883501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nav a vs. nav &gt; a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article p vs. article &gt; p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h2 + p – ingress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a:hover og li:nth-child(even)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input[type="email"]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Erfðir: litur já, rammi nei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Specificity-gátan!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027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968500"/>
            <a:ext cx="10883392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15</a:t>
            </a:r>
            <a:r>
              <a:rPr lang="en-US" sz="20000" b="1" dirty="0">
                <a:solidFill>
                  <a:srgbClr val="F2A65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′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12800" y="46609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 err="1">
                <a:solidFill>
                  <a:srgbClr val="C9CB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Næst</a:t>
            </a:r>
            <a:r>
              <a:rPr lang="en-US" sz="2200" dirty="0">
                <a:solidFill>
                  <a:srgbClr val="C9CB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: </a:t>
            </a:r>
            <a:r>
              <a:rPr lang="en-US" sz="2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box-model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EB1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EB1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BOX-MODEL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Allt er kassi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2543870"/>
            <a:ext cx="190500" cy="19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E9E"/>
            </a:solidFill>
            <a:prstDash val="dash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168400" y="2537520"/>
            <a:ext cx="304531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content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8400" y="2847380"/>
            <a:ext cx="35479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Innihaldið – texti, myndir. width og height.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3263900"/>
            <a:ext cx="203200" cy="203200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8" name="Text 6"/>
          <p:cNvSpPr/>
          <p:nvPr/>
        </p:nvSpPr>
        <p:spPr>
          <a:xfrm>
            <a:off x="1168400" y="3263900"/>
            <a:ext cx="294772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padding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8400" y="3573760"/>
            <a:ext cx="34342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Bil </a:t>
            </a:r>
            <a:r>
              <a:rPr lang="en-US" sz="1200" b="1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inni</a:t>
            </a: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í kassanum. Fær bakgrunnslitinn.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990280"/>
            <a:ext cx="203200" cy="2032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11" name="Text 9"/>
          <p:cNvSpPr/>
          <p:nvPr/>
        </p:nvSpPr>
        <p:spPr>
          <a:xfrm>
            <a:off x="1168400" y="3990280"/>
            <a:ext cx="20170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border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8400" y="4300141"/>
            <a:ext cx="23499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Ramminn utan um padding.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325" y="4726186"/>
            <a:ext cx="184150" cy="184150"/>
          </a:xfrm>
          <a:prstGeom prst="rect">
            <a:avLst/>
          </a:prstGeom>
          <a:noFill/>
          <a:ln w="19050">
            <a:solidFill>
              <a:srgbClr val="B4501A"/>
            </a:solidFill>
            <a:prstDash val="dash"/>
          </a:ln>
        </p:spPr>
        <p:txBody>
          <a:bodyPr/>
          <a:lstStyle/>
          <a:p>
            <a:endParaRPr lang="en-IS"/>
          </a:p>
        </p:txBody>
      </p:sp>
      <p:sp>
        <p:nvSpPr>
          <p:cNvPr id="14" name="Text 12"/>
          <p:cNvSpPr/>
          <p:nvPr/>
        </p:nvSpPr>
        <p:spPr>
          <a:xfrm>
            <a:off x="1168400" y="4716661"/>
            <a:ext cx="27267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margin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8400" y="5026521"/>
            <a:ext cx="3176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Bil </a:t>
            </a:r>
            <a:r>
              <a:rPr lang="en-US" sz="1200" b="1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utan</a:t>
            </a: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við kassann. Alltaf gegnsætt.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675" y="1944936"/>
            <a:ext cx="5334000" cy="3887539"/>
          </a:xfrm>
          <a:prstGeom prst="roundRect">
            <a:avLst>
              <a:gd name="adj" fmla="val 1715"/>
            </a:avLst>
          </a:prstGeom>
          <a:noFill/>
          <a:ln w="19050">
            <a:solidFill>
              <a:srgbClr val="B4501A"/>
            </a:solidFill>
            <a:prstDash val="dash"/>
          </a:ln>
        </p:spPr>
        <p:txBody>
          <a:bodyPr/>
          <a:lstStyle/>
          <a:p>
            <a:endParaRPr lang="en-IS"/>
          </a:p>
        </p:txBody>
      </p:sp>
      <p:sp>
        <p:nvSpPr>
          <p:cNvPr id="17" name="Text 15"/>
          <p:cNvSpPr/>
          <p:nvPr/>
        </p:nvSpPr>
        <p:spPr>
          <a:xfrm>
            <a:off x="6299200" y="2106861"/>
            <a:ext cx="4951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margin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0000" y="2421781"/>
            <a:ext cx="4705350" cy="1742380"/>
          </a:xfrm>
          <a:prstGeom prst="rect">
            <a:avLst/>
          </a:prstGeom>
          <a:solidFill>
            <a:srgbClr val="CFE0F5"/>
          </a:solidFill>
          <a:ln w="1016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9" name="Text 17"/>
          <p:cNvSpPr/>
          <p:nvPr/>
        </p:nvSpPr>
        <p:spPr>
          <a:xfrm>
            <a:off x="6654800" y="2574181"/>
            <a:ext cx="42186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padding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61150" y="2844651"/>
            <a:ext cx="4083050" cy="100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E9E"/>
            </a:solidFill>
            <a:prstDash val="dash"/>
          </a:ln>
        </p:spPr>
        <p:txBody>
          <a:bodyPr wrap="square" lIns="158750" tIns="349250" rIns="158750" bIns="34925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BOX-MODEL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Styttingar: 1, 2 eða 4 gildi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10566400" cy="203200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/>
        </p:spPr>
        <p:txBody>
          <a:bodyPr wrap="square" lIns="275042" tIns="224242" rIns="0" bIns="198842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padding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20px;                </a:t>
            </a: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allar fjórar hliðar */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padding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10px 20px;           </a:t>
            </a: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upp+niður · hægri+vinstri */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padding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10px 20px 30px 40px;  </a:t>
            </a: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upp · hægri · niður · vinstri */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border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2px solid #1b1f3b;     </a:t>
            </a: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þykkt · stíll · litur */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margin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0 auto;             </a:t>
            </a:r>
            <a:r>
              <a:rPr lang="en-US" sz="1600" dirty="0">
                <a:solidFill>
                  <a:srgbClr val="9A9DB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miðja lárétt */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272211"/>
            <a:ext cx="6588720" cy="487660"/>
          </a:xfrm>
          <a:prstGeom prst="roundRect">
            <a:avLst>
              <a:gd name="adj" fmla="val 50000"/>
            </a:avLst>
          </a:prstGeom>
          <a:solidFill>
            <a:srgbClr val="FCE3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 gildi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= réttsælis eins og klukka: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upp → hægri → niður → vinstri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BOX-MODEL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Hvað er kassinn breiður?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5384800" cy="2435771"/>
          </a:xfrm>
          <a:prstGeom prst="roundRect">
            <a:avLst>
              <a:gd name="adj" fmla="val 4171"/>
            </a:avLst>
          </a:prstGeom>
          <a:solidFill>
            <a:srgbClr val="1B1F3B"/>
          </a:solidFill>
          <a:ln/>
        </p:spPr>
        <p:txBody>
          <a:bodyPr wrap="square" lIns="275042" tIns="224242" rIns="131786" bIns="224242" rtlCol="0" anchor="ctr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.kort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width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300px;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padding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20px;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border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5px solid;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margin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10px;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04000" y="1935411"/>
            <a:ext cx="491845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Sýnileg breidd kassans: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04000" y="2372271"/>
            <a:ext cx="4918456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 + 20 + 20 + 5 + 5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04000" y="2887861"/>
            <a:ext cx="491845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= 350px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604000" y="3802261"/>
            <a:ext cx="491845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Margin bætist við </a:t>
            </a: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utan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um: kassinn tekur 370px pláss.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BOX-MODEL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box-sizing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3545384" cy="2957711"/>
          </a:xfrm>
          <a:prstGeom prst="roundRect">
            <a:avLst>
              <a:gd name="adj" fmla="val 3328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312196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content-box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581821"/>
            <a:ext cx="31219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sjálfgefið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3150" y="2896741"/>
            <a:ext cx="312196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350px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073150" y="3760341"/>
            <a:ext cx="312196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width = bara content. Padding og border bætast við.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7259" y="1944936"/>
            <a:ext cx="3558133" cy="2945011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19050">
            <a:solidFill>
              <a:srgbClr val="B4501A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0" name="Text 8"/>
          <p:cNvSpPr/>
          <p:nvPr/>
        </p:nvSpPr>
        <p:spPr>
          <a:xfrm>
            <a:off x="4840784" y="2208461"/>
            <a:ext cx="312201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border-box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0784" y="259452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mælum með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0784" y="2909441"/>
            <a:ext cx="312201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300px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840784" y="3773041"/>
            <a:ext cx="312201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width = content + padding + border. Það sem þú skrifar er það sem þú færð.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48117" y="2360811"/>
            <a:ext cx="312201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Setjið efst í hverja CSS-skrá: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48117" y="2746871"/>
            <a:ext cx="3031083" cy="1727200"/>
          </a:xfrm>
          <a:prstGeom prst="roundRect">
            <a:avLst>
              <a:gd name="adj" fmla="val 5882"/>
            </a:avLst>
          </a:prstGeom>
          <a:solidFill>
            <a:srgbClr val="1B1F3B"/>
          </a:solidFill>
          <a:ln/>
        </p:spPr>
        <p:txBody>
          <a:bodyPr wrap="square" lIns="275042" tIns="224242" rIns="202398" bIns="198842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box-sizing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border-box;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BOX-MODEL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display: block, inline, inline-block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111"/>
          <a:ext cx="10553700" cy="2196705"/>
        </p:xfrm>
        <a:graphic>
          <a:graphicData uri="http://schemas.openxmlformats.org/drawingml/2006/table">
            <a:tbl>
              <a:tblPr/>
              <a:tblGrid>
                <a:gridCol w="390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block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inline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B450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inline-block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Byrjar í nýrri línu?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Já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Nei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Nei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width / height virkar?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Já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Nei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Já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Lóðrétt margin/padding ýtir frá?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Já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Nei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Já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Dæmi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div, p, h1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a, span, b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button, img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49614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Breyta má hvaða elementi sem er: </a:t>
            </a:r>
            <a:r>
              <a:rPr lang="en-US" sz="16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{ display: inline-block; }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BOX-MODEL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Margin: miðjun og samfall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175250" cy="3348930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Miðjun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3150" y="2632621"/>
            <a:ext cx="4660900" cy="1727200"/>
          </a:xfrm>
          <a:prstGeom prst="roundRect">
            <a:avLst>
              <a:gd name="adj" fmla="val 5882"/>
            </a:avLst>
          </a:prstGeom>
          <a:solidFill>
            <a:srgbClr val="1B1F3B"/>
          </a:solidFill>
          <a:ln/>
        </p:spPr>
        <p:txBody>
          <a:bodyPr wrap="square" lIns="275042" tIns="224242" rIns="153503" bIns="198842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.umgjord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width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900px;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margin</a:t>
            </a: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0 auto;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4461421"/>
            <a:ext cx="480072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Þarf </a:t>
            </a:r>
            <a:r>
              <a:rPr lang="en-US" sz="1600" b="1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breidd</a:t>
            </a: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 auto skiptir afgangsplássinu jafnt til vinstri og hægri.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0775" y="1938586"/>
            <a:ext cx="5175250" cy="3348930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9" name="Text 7"/>
          <p:cNvSpPr/>
          <p:nvPr/>
        </p:nvSpPr>
        <p:spPr>
          <a:xfrm>
            <a:off x="6457950" y="219576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Samfall (collapse)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57950" y="2632621"/>
            <a:ext cx="4660900" cy="1041400"/>
          </a:xfrm>
          <a:prstGeom prst="roundRect">
            <a:avLst>
              <a:gd name="adj" fmla="val 9756"/>
            </a:avLst>
          </a:prstGeom>
          <a:solidFill>
            <a:srgbClr val="1B1F3B"/>
          </a:solidFill>
          <a:ln/>
        </p:spPr>
        <p:txBody>
          <a:bodyPr wrap="square" lIns="275042" tIns="224242" rIns="153503" bIns="1988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margin-bottom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40px; }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 { </a:t>
            </a:r>
            <a:r>
              <a:rPr lang="en-US" sz="1400" dirty="0">
                <a:solidFill>
                  <a:srgbClr val="8FC1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margin-top</a:t>
            </a:r>
            <a:r>
              <a:rPr lang="en-US" sz="1400" dirty="0">
                <a:solidFill>
                  <a:srgbClr val="E8E6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30px; 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57950" y="3775621"/>
            <a:ext cx="480072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Bilið verður </a:t>
            </a:r>
            <a:r>
              <a:rPr lang="en-US" sz="1600" b="1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40px</a:t>
            </a:r>
            <a:r>
              <a:rPr lang="en-US" sz="16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, ekki 70px. Lóðrétt margin leggst ekki saman – það stærra vinnur.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BOX-MODEL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DevTools: sjáðu kassann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2520950" cy="2058541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20667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3150" y="2754561"/>
            <a:ext cx="20667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Hægrismelltu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09999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á element → </a:t>
            </a:r>
            <a:r>
              <a:rPr lang="en-US" sz="1200" b="1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Inspect</a:t>
            </a: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(Skoða)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1938586"/>
            <a:ext cx="2520950" cy="2058541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9" name="Text 7"/>
          <p:cNvSpPr/>
          <p:nvPr/>
        </p:nvSpPr>
        <p:spPr>
          <a:xfrm>
            <a:off x="3752850" y="2195761"/>
            <a:ext cx="20667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52850" y="2754561"/>
            <a:ext cx="20667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52850" y="309999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Veldu elementið í HTML-trénu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1938586"/>
            <a:ext cx="2520950" cy="2058541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3" name="Text 11"/>
          <p:cNvSpPr/>
          <p:nvPr/>
        </p:nvSpPr>
        <p:spPr>
          <a:xfrm>
            <a:off x="6432550" y="2195761"/>
            <a:ext cx="20667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32550" y="2754561"/>
            <a:ext cx="20667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Computed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2550" y="309999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Neðst: litaða box-model myndin með öllum tölum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1938586"/>
            <a:ext cx="2520950" cy="2058541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7" name="Text 15"/>
          <p:cNvSpPr/>
          <p:nvPr/>
        </p:nvSpPr>
        <p:spPr>
          <a:xfrm>
            <a:off x="9112250" y="2195761"/>
            <a:ext cx="20667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12250" y="2754561"/>
            <a:ext cx="20667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Styles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12250" y="3099991"/>
            <a:ext cx="206679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Breyttu gildum í beinni. Yfirstrikuð regla = önnur vann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305102"/>
            <a:ext cx="3088680" cy="487660"/>
          </a:xfrm>
          <a:prstGeom prst="roundRect">
            <a:avLst>
              <a:gd name="adj" fmla="val 15626"/>
            </a:avLst>
          </a:prstGeom>
          <a:solidFill>
            <a:srgbClr val="1B1F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F7F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F12 · Cmd + Option + 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07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9980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ÆFING 3 · SAMAN · 15 MÍN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25700"/>
            <a:ext cx="491845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Vefstofan Kassi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178300"/>
            <a:ext cx="4775200" cy="416520"/>
          </a:xfrm>
          <a:prstGeom prst="roundRect">
            <a:avLst>
              <a:gd name="adj" fmla="val 18294"/>
            </a:avLst>
          </a:prstGeom>
          <a:solidFill>
            <a:srgbClr val="1B1F3B"/>
          </a:solidFill>
          <a:ln/>
        </p:spPr>
        <p:txBody>
          <a:bodyPr wrap="square" lIns="130082" tIns="79282" rIns="0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aefingar/aefing-3-box-model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94400" y="812800"/>
            <a:ext cx="5384800" cy="5029200"/>
          </a:xfrm>
          <a:prstGeom prst="roundRect">
            <a:avLst>
              <a:gd name="adj" fmla="val 3030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6" name="Text 4"/>
          <p:cNvSpPr/>
          <p:nvPr/>
        </p:nvSpPr>
        <p:spPr>
          <a:xfrm>
            <a:off x="6326535" y="2260600"/>
            <a:ext cx="4883501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margin: 0 auto – miðjum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border og padding á .kort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Þrjú kort hlið við hlið…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…af hverju fer eitt niður?!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* { box-sizing: border-box }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.takki: inline → inline-block</a:t>
            </a:r>
            <a:endParaRPr lang="en-US" sz="1600" dirty="0"/>
          </a:p>
          <a:p>
            <a:pPr marL="226665" indent="-226665" algn="l">
              <a:lnSpc>
                <a:spcPts val="240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Margin-samfall í DevTools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739" y="933335"/>
            <a:ext cx="6278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TÍMAVERKEFNI · 35 MÍN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83739" y="1349855"/>
            <a:ext cx="62788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Kaffi Kóði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83739" y="2353155"/>
            <a:ext cx="627888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C9CB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Þú færð tilbúið HTML. Þitt verk: skrifa </a:t>
            </a:r>
            <a:r>
              <a:rPr lang="en-US" sz="2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style.css</a:t>
            </a:r>
            <a:r>
              <a:rPr lang="en-US" sz="2200" dirty="0">
                <a:solidFill>
                  <a:srgbClr val="C9CB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svo matseðillinn verði fallegur.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25224" y="3295069"/>
            <a:ext cx="3772413" cy="961892"/>
          </a:xfrm>
          <a:prstGeom prst="roundRect">
            <a:avLst>
              <a:gd name="adj" fmla="val 9805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6" name="Text 4"/>
          <p:cNvSpPr/>
          <p:nvPr/>
        </p:nvSpPr>
        <p:spPr>
          <a:xfrm>
            <a:off x="850432" y="3549068"/>
            <a:ext cx="3399885" cy="22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Mappa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432" y="3863988"/>
            <a:ext cx="3399885" cy="22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timaverkefni-kaffi-kodi/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224" y="4519275"/>
            <a:ext cx="3772413" cy="961892"/>
          </a:xfrm>
          <a:prstGeom prst="roundRect">
            <a:avLst>
              <a:gd name="adj" fmla="val 9805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IS"/>
          </a:p>
        </p:txBody>
      </p:sp>
      <p:sp>
        <p:nvSpPr>
          <p:cNvPr id="9" name="Text 7"/>
          <p:cNvSpPr/>
          <p:nvPr/>
        </p:nvSpPr>
        <p:spPr>
          <a:xfrm>
            <a:off x="850432" y="4773274"/>
            <a:ext cx="3399885" cy="22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Lestu fyrst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432" y="5088194"/>
            <a:ext cx="3399885" cy="22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VERKEFNALYSING.md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25162" y="3862048"/>
            <a:ext cx="2392762" cy="1027927"/>
          </a:xfrm>
          <a:prstGeom prst="roundRect">
            <a:avLst>
              <a:gd name="adj" fmla="val 9175"/>
            </a:avLst>
          </a:prstGeom>
          <a:solidFill>
            <a:srgbClr val="F7F5EF"/>
          </a:solidFill>
          <a:ln/>
        </p:spPr>
        <p:txBody>
          <a:bodyPr/>
          <a:lstStyle/>
          <a:p>
            <a:endParaRPr lang="en-IS" dirty="0"/>
          </a:p>
        </p:txBody>
      </p:sp>
      <p:sp>
        <p:nvSpPr>
          <p:cNvPr id="12" name="Text 10"/>
          <p:cNvSpPr/>
          <p:nvPr/>
        </p:nvSpPr>
        <p:spPr>
          <a:xfrm>
            <a:off x="5050370" y="4116048"/>
            <a:ext cx="3399885" cy="22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Reglan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50368" y="4430969"/>
            <a:ext cx="3399888" cy="28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Ekki</a:t>
            </a:r>
            <a:r>
              <a:rPr lang="en-US" sz="160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breyta index.html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EB1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EB1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31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B8237B-CEED-14F6-A9A7-43D3EAAD1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022" y="381000"/>
            <a:ext cx="4208132" cy="56529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SAMANTEKT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1F3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Það sem við lærðum í dag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3380284" cy="2475210"/>
          </a:xfrm>
          <a:prstGeom prst="roundRect">
            <a:avLst>
              <a:gd name="adj" fmla="val 397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Selectors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0808" y="2632621"/>
            <a:ext cx="2886634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.klasi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#id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h1, h2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809" y="1938586"/>
            <a:ext cx="3380333" cy="2475210"/>
          </a:xfrm>
          <a:prstGeom prst="roundRect">
            <a:avLst>
              <a:gd name="adj" fmla="val 397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8" name="Text 6"/>
          <p:cNvSpPr/>
          <p:nvPr/>
        </p:nvSpPr>
        <p:spPr>
          <a:xfrm>
            <a:off x="4662984" y="2195761"/>
            <a:ext cx="295196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Stigveldi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20642" y="2632621"/>
            <a:ext cx="2886685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nav a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nav &gt; a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h2 + p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a:hover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[type]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5692" y="1938586"/>
            <a:ext cx="3380333" cy="2475210"/>
          </a:xfrm>
          <a:prstGeom prst="roundRect">
            <a:avLst>
              <a:gd name="adj" fmla="val 3976"/>
            </a:avLst>
          </a:prstGeom>
          <a:solidFill>
            <a:srgbClr val="FFFFFF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1" name="Text 9"/>
          <p:cNvSpPr/>
          <p:nvPr/>
        </p:nvSpPr>
        <p:spPr>
          <a:xfrm>
            <a:off x="8252867" y="2195761"/>
            <a:ext cx="295196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Box-model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10525" y="2632621"/>
            <a:ext cx="2886685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content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padding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border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margin</a:t>
            </a:r>
            <a:endParaRPr lang="en-US" sz="1600" dirty="0"/>
          </a:p>
          <a:p>
            <a:pPr marL="196342" indent="-1963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border-box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E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2193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65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TAKK FYRIR Í DAG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8384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Spurningar?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84175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C9CB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Næsti tími: [efni næsta tíma]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EB1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CSS · Selectors, stigveldi &amp; box-model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EB1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S – Selectors, stigveldi &amp; box-model">
  <a:themeElements>
    <a:clrScheme name="CSS – Selectors, stigveldi &amp; box-model">
      <a:dk1>
        <a:srgbClr val="1B1F3B"/>
      </a:dk1>
      <a:lt1>
        <a:srgbClr val="F7F5EF"/>
      </a:lt1>
      <a:dk2>
        <a:srgbClr val="525568"/>
      </a:dk2>
      <a:lt2>
        <a:srgbClr val="E1E0DD"/>
      </a:lt2>
      <a:accent1>
        <a:srgbClr val="B4501A"/>
      </a:accent1>
      <a:accent2>
        <a:srgbClr val="F2A65A"/>
      </a:accent2>
      <a:accent3>
        <a:srgbClr val="FCE3CF"/>
      </a:accent3>
      <a:accent4>
        <a:srgbClr val="E07A2F"/>
      </a:accent4>
      <a:accent5>
        <a:srgbClr val="3A4170"/>
      </a:accent5>
      <a:accent6>
        <a:srgbClr val="8FC1FF"/>
      </a:accent6>
      <a:hlink>
        <a:srgbClr val="0563C1"/>
      </a:hlink>
      <a:folHlink>
        <a:srgbClr val="954F72"/>
      </a:folHlink>
    </a:clrScheme>
    <a:fontScheme name="CSS – Selectors, stigveldi &amp; box-model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e873e2-0534-4531-b3e6-7fa863c0518f">
      <Terms xmlns="http://schemas.microsoft.com/office/infopath/2007/PartnerControls"/>
    </lcf76f155ced4ddcb4097134ff3c332f>
    <TaxCatchAll xmlns="d4c2a839-a994-451b-805c-f519ecca7cb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4D0D290EE21843A89FC2B90859F45F" ma:contentTypeVersion="10" ma:contentTypeDescription="Create a new document." ma:contentTypeScope="" ma:versionID="17bbdd189598665feccda3ddb02b82a3">
  <xsd:schema xmlns:xsd="http://www.w3.org/2001/XMLSchema" xmlns:xs="http://www.w3.org/2001/XMLSchema" xmlns:p="http://schemas.microsoft.com/office/2006/metadata/properties" xmlns:ns2="1ee873e2-0534-4531-b3e6-7fa863c0518f" xmlns:ns3="d4c2a839-a994-451b-805c-f519ecca7cb8" targetNamespace="http://schemas.microsoft.com/office/2006/metadata/properties" ma:root="true" ma:fieldsID="b8c310bbef8fd13ae1056d4f5b3a7802" ns2:_="" ns3:_="">
    <xsd:import namespace="1ee873e2-0534-4531-b3e6-7fa863c0518f"/>
    <xsd:import namespace="d4c2a839-a994-451b-805c-f519ecca7c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873e2-0534-4531-b3e6-7fa863c051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46187d0-8e88-4043-8801-0de0d0da5f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c2a839-a994-451b-805c-f519ecca7cb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d1f8fac-d987-45f1-ab91-85b21b1d8cfd}" ma:internalName="TaxCatchAll" ma:showField="CatchAllData" ma:web="d4c2a839-a994-451b-805c-f519ecca7c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63E199-6283-4B5C-BE75-4C296065EE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1734D3-F6BC-4306-B8DC-2BD4365B9FDA}">
  <ds:schemaRefs>
    <ds:schemaRef ds:uri="http://schemas.microsoft.com/office/2006/metadata/properties"/>
    <ds:schemaRef ds:uri="http://schemas.microsoft.com/office/infopath/2007/PartnerControls"/>
    <ds:schemaRef ds:uri="1ee873e2-0534-4531-b3e6-7fa863c0518f"/>
    <ds:schemaRef ds:uri="d4c2a839-a994-451b-805c-f519ecca7cb8"/>
  </ds:schemaRefs>
</ds:datastoreItem>
</file>

<file path=customXml/itemProps3.xml><?xml version="1.0" encoding="utf-8"?>
<ds:datastoreItem xmlns:ds="http://schemas.openxmlformats.org/officeDocument/2006/customXml" ds:itemID="{295C0E0E-1DE5-4ADE-A848-F47F82D1E1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e873e2-0534-4531-b3e6-7fa863c0518f"/>
    <ds:schemaRef ds:uri="d4c2a839-a994-451b-805c-f519ecca7c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3479</Words>
  <Application>Microsoft Office PowerPoint</Application>
  <PresentationFormat>Widescreen</PresentationFormat>
  <Paragraphs>532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JetBrains Mono</vt:lpstr>
      <vt:lpstr>Rubik</vt:lpstr>
      <vt:lpstr>CSS – Selectors, stigveldi &amp; box-model</vt:lpstr>
      <vt:lpstr>Selectors, stigveldi &amp; box-model</vt:lpstr>
      <vt:lpstr>Í lok tímans getur þú…</vt:lpstr>
      <vt:lpstr>Uppbygging CSS-reglu</vt:lpstr>
      <vt:lpstr>Þrjár leiðir til að tengja CSS</vt:lpstr>
      <vt:lpstr>Element-selector</vt:lpstr>
      <vt:lpstr>Class-selector: .klasi</vt:lpstr>
      <vt:lpstr>ID-selector: #einstakt</vt:lpstr>
      <vt:lpstr>Universal &amp; hópun</vt:lpstr>
      <vt:lpstr>Samantekt</vt:lpstr>
      <vt:lpstr>Pönnukökur ömmu</vt:lpstr>
      <vt:lpstr>HTML er tré</vt:lpstr>
      <vt:lpstr>Afkomendur (bil) vs. börn (&gt;)</vt:lpstr>
      <vt:lpstr>Systkini: + og ~</vt:lpstr>
      <vt:lpstr>Pseudo-classes: ástand og staðsetning</vt:lpstr>
      <vt:lpstr>Attribute-selectors: [eigind]</vt:lpstr>
      <vt:lpstr>Cascade: þegar reglur rekast á</vt:lpstr>
      <vt:lpstr>Specificity: stigin þrjú</vt:lpstr>
      <vt:lpstr>Gáta: hvaða lit fæ ég?</vt:lpstr>
      <vt:lpstr>Erfðir: sumt flæðir niður tréð</vt:lpstr>
      <vt:lpstr>Ferða- bloggið</vt:lpstr>
      <vt:lpstr>PowerPoint Presentation</vt:lpstr>
      <vt:lpstr>Allt er kassi</vt:lpstr>
      <vt:lpstr>Styttingar: 1, 2 eða 4 gildi</vt:lpstr>
      <vt:lpstr>Hvað er kassinn breiður?</vt:lpstr>
      <vt:lpstr>box-sizing</vt:lpstr>
      <vt:lpstr>display: block, inline, inline-block</vt:lpstr>
      <vt:lpstr>Margin: miðjun og samfall</vt:lpstr>
      <vt:lpstr>DevTools: sjáðu kassann</vt:lpstr>
      <vt:lpstr>Vefstofan Kassi</vt:lpstr>
      <vt:lpstr>Kaffi Kóði</vt:lpstr>
      <vt:lpstr>Það sem við lærðum í dag</vt:lpstr>
      <vt:lpstr>Spurningar?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– Selectors, stigveldi &amp; box-model</dc:title>
  <dc:subject/>
  <dc:creator>Harpa Hermannsdóttir - VMA</dc:creator>
  <cp:lastModifiedBy>Harpa Hermannsdóttir - VMA</cp:lastModifiedBy>
  <cp:revision>4</cp:revision>
  <dcterms:created xsi:type="dcterms:W3CDTF">2026-10-05T15:55:23Z</dcterms:created>
  <dcterms:modified xsi:type="dcterms:W3CDTF">2026-10-09T17:02:36Z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0x010100054D0D290EE21843A89FC2B90859F45F</vt:lpwstr>
  </property>
</Properties>
</file>